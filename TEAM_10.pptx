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9" r:id="rId2"/>
    <p:sldId id="298" r:id="rId3"/>
    <p:sldId id="276" r:id="rId4"/>
    <p:sldId id="299" r:id="rId5"/>
    <p:sldId id="301" r:id="rId6"/>
    <p:sldId id="303" r:id="rId7"/>
    <p:sldId id="302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274" r:id="rId1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94660"/>
  </p:normalViewPr>
  <p:slideViewPr>
    <p:cSldViewPr>
      <p:cViewPr varScale="1">
        <p:scale>
          <a:sx n="78" d="100"/>
          <a:sy n="78" d="100"/>
        </p:scale>
        <p:origin x="1382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031D5-7AC7-4428-A9C9-A227A6E4E66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483A3-9B62-4C52-BC24-C143A8C3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13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Open sans"/>
              </a:defRPr>
            </a:lvl1pPr>
          </a:lstStyle>
          <a:p>
            <a:fld id="{F9A4517E-2A97-4E49-BCD8-ED9EE8759F81}" type="datetime3">
              <a:rPr lang="en-US" smtClean="0"/>
              <a:t>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Open sans"/>
              </a:defRPr>
            </a:lvl1pPr>
          </a:lstStyle>
          <a:p>
            <a:r>
              <a:rPr lang="en-US"/>
              <a:t>Dr. Sudarshan Rao 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Open sans"/>
              </a:defRPr>
            </a:lvl1pPr>
          </a:lstStyle>
          <a:p>
            <a:fld id="{DE19987B-39D8-4CB5-BD06-CFC9446EB1E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Suma\Downloads\logo_for office use (1)_page-0001.jpg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200" y="175896"/>
            <a:ext cx="1079416" cy="890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214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2D45-5982-4DB2-972E-49DA9254DEBF}" type="datetime3">
              <a:rPr lang="en-US" smtClean="0"/>
              <a:t>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3951-4C22-4160-8CED-1E79AF76E447}" type="datetime3">
              <a:rPr lang="en-US" smtClean="0"/>
              <a:t>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6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79E4-0853-4D8C-A5DA-9A638D38CA56}" type="datetime3">
              <a:rPr lang="en-US" smtClean="0"/>
              <a:t>8 October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2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3C1B-5D7B-44E7-AABF-98FFF3FF18F6}" type="datetime3">
              <a:rPr lang="en-US" smtClean="0"/>
              <a:t>8 October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86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BFD35-6E24-436C-B814-A7BDF1BD4110}" type="datetime3">
              <a:rPr lang="en-US" smtClean="0"/>
              <a:t>8 October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Sudarshan</a:t>
            </a:r>
            <a:r>
              <a:rPr lang="en-US" dirty="0"/>
              <a:t> </a:t>
            </a:r>
            <a:r>
              <a:rPr lang="en-US" dirty="0" err="1"/>
              <a:t>Rao</a:t>
            </a:r>
            <a:r>
              <a:rPr lang="en-US" dirty="0"/>
              <a:t> 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C44D-364F-4512-B83A-44D1388B2285}" type="datetime3">
              <a:rPr lang="en-US" smtClean="0"/>
              <a:t>8 October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8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B4E02-1223-4402-AFA5-16D9A4B00119}" type="datetime3">
              <a:rPr lang="en-US" smtClean="0"/>
              <a:t>8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7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F3A1-C3EF-4650-90C3-12D9AEF1EFF3}" type="datetime3">
              <a:rPr lang="en-US" smtClean="0"/>
              <a:t>8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439F-4104-4324-B4FA-152744D32353}" type="datetime3">
              <a:rPr lang="en-US" smtClean="0"/>
              <a:t>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8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37E5-2957-4426-814B-0796DED477F7}" type="datetime3">
              <a:rPr lang="en-US" smtClean="0"/>
              <a:t>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Sudarshan Rao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9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user\Desktop\Untitled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" y="701642"/>
            <a:ext cx="9608820" cy="600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C00000"/>
                </a:solidFill>
                <a:latin typeface="Open sans"/>
              </a:defRPr>
            </a:lvl1pPr>
          </a:lstStyle>
          <a:p>
            <a:fld id="{777B6100-8228-43C3-97D0-44BBD5EFC77A}" type="datetime3">
              <a:rPr lang="en-US" smtClean="0"/>
              <a:t>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C00000"/>
                </a:solidFill>
                <a:latin typeface="Open sans"/>
              </a:defRPr>
            </a:lvl1pPr>
          </a:lstStyle>
          <a:p>
            <a:r>
              <a:rPr lang="en-US" dirty="0"/>
              <a:t>Dr. </a:t>
            </a:r>
            <a:r>
              <a:rPr lang="en-US" dirty="0" err="1"/>
              <a:t>Sudarshan</a:t>
            </a:r>
            <a:r>
              <a:rPr lang="en-US" dirty="0"/>
              <a:t> </a:t>
            </a:r>
            <a:r>
              <a:rPr lang="en-US" dirty="0" err="1"/>
              <a:t>Rao</a:t>
            </a:r>
            <a:r>
              <a:rPr lang="en-US" dirty="0"/>
              <a:t>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C00000"/>
                </a:solidFill>
                <a:latin typeface="Open sans"/>
              </a:defRPr>
            </a:lvl1pPr>
          </a:lstStyle>
          <a:p>
            <a:fld id="{DE19987B-39D8-4CB5-BD06-CFC9446EB1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15570" y="152400"/>
            <a:ext cx="9608820" cy="66135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C:\Users\Suma\Downloads\logo_for office use (1)_page-0001.jpg"/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200" y="175896"/>
            <a:ext cx="1079416" cy="890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029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1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1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1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1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1897" y="926455"/>
            <a:ext cx="9419303" cy="1371600"/>
          </a:xfrm>
        </p:spPr>
        <p:txBody>
          <a:bodyPr>
            <a:noAutofit/>
          </a:bodyPr>
          <a:lstStyle/>
          <a:p>
            <a:pPr>
              <a:spcBef>
                <a:spcPct val="20000"/>
              </a:spcBef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AI-Powered Smart Home Security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6019800"/>
            <a:ext cx="9525000" cy="411946"/>
          </a:xfrm>
          <a:prstGeom prst="rect">
            <a:avLst/>
          </a:prstGeom>
          <a:noFill/>
        </p:spPr>
        <p:txBody>
          <a:bodyPr wrap="square" lIns="103163" tIns="51581" rIns="103163" bIns="51581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9-10-2025</a:t>
            </a:r>
            <a:endParaRPr lang="en-US" sz="2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2514600"/>
            <a:ext cx="9525000" cy="3441526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Abhishek M(4MW22AD001)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Adithya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Hanglur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(4MW22AD002)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Puneeth Hegde(4MW22AD0039)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Sarvan D Suvarna(4MW22AD043)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Shamith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Vakwady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(4MW22AD044)</a:t>
            </a:r>
          </a:p>
          <a:p>
            <a:pPr algn="just" eaLnBrk="1" hangingPunct="1"/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Guide- Mr. Balachandra R Jogi</a:t>
            </a:r>
          </a:p>
          <a:p>
            <a:pPr algn="just" eaLnBrk="1" hangingPunct="1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            Assistant Professor</a:t>
            </a:r>
          </a:p>
          <a:p>
            <a:pPr algn="just" eaLnBrk="1" hangingPunct="1"/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Department of Artificial Intelligence and Data Science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824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2790-DC4E-5021-A9A7-77C40ABD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99604-79E8-8EE9-1B62-FCE45B62F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00050" indent="-400050">
              <a:buFont typeface="+mj-lt"/>
              <a:buAutoNum type="romanUcPeriod"/>
            </a:pPr>
            <a:r>
              <a:rPr lang="en-IN" sz="1600" dirty="0"/>
              <a:t>Introduction &amp; Problem Statement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Project Objectives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Proposed Methodology: System Architecture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Hardware &amp; Core Software Overview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Data &amp; Preprocessing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ML/DL Models: Person Detection &amp; Face Recognition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ML/DL Models: Pose Estimation &amp; </a:t>
            </a:r>
            <a:r>
              <a:rPr lang="en-IN" sz="1600" dirty="0" err="1"/>
              <a:t>Behavior</a:t>
            </a:r>
            <a:r>
              <a:rPr lang="en-IN" sz="1600" dirty="0"/>
              <a:t> Analysis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Detailed System Workflow &amp; Scenarios</a:t>
            </a:r>
          </a:p>
          <a:p>
            <a:pPr marL="400050" indent="-400050">
              <a:buFont typeface="+mj-lt"/>
              <a:buAutoNum type="romanUcPeriod"/>
            </a:pPr>
            <a:endParaRPr lang="en-IN" sz="1600" dirty="0"/>
          </a:p>
          <a:p>
            <a:pPr marL="400050" indent="-400050">
              <a:buFont typeface="+mj-lt"/>
              <a:buAutoNum type="romanUcPeriod"/>
            </a:pPr>
            <a:r>
              <a:rPr lang="en-IN" sz="1600" dirty="0"/>
              <a:t>Preliminary Results &amp; Key Findings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E28DD-F916-93B2-79E4-575A00AA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7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59ED-996E-95D3-2DEF-10DB8B82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7200" y="136525"/>
            <a:ext cx="10515600" cy="914400"/>
          </a:xfrm>
        </p:spPr>
        <p:txBody>
          <a:bodyPr>
            <a:normAutofit/>
          </a:bodyPr>
          <a:lstStyle/>
          <a:p>
            <a:r>
              <a:rPr lang="en-IN" sz="3400" dirty="0"/>
              <a:t>Problem Statement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56F46-6323-14DA-B1CE-63B0632B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7B4705-467F-7179-54BB-A4DD91537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673642"/>
            <a:ext cx="943399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of Traditional Security Systems: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Passive surveillance: Primarily record events for post-incident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intelligence: Cannot differentiate between normal and suspicious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alarms: Often triggered by non-threatening elements (animals, weather).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proactive engagement: Unable to interact or identify unknown visitors.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adaptability: Struggle with varying lighting and environmental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Need for a "Digital Guardian":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demand for intelligent, real-time threat detection and proactive alerting.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to understand context: Who is present, what they are doing, and if it poses a threat.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safety and peace of mind through automation and advanced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Solution's Value Proposition: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multi-stage AI (person detection, face recognition, behavior analysis).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nuanced threat assessment and automated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an interactive system for legitimate unknown visitors.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69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8DE5-FE70-742F-00D8-09A8A6EC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38C3-EAC2-4DD6-2DC0-0A1403D3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7200" y="136525"/>
            <a:ext cx="10515600" cy="914400"/>
          </a:xfrm>
        </p:spPr>
        <p:txBody>
          <a:bodyPr>
            <a:normAutofit/>
          </a:bodyPr>
          <a:lstStyle/>
          <a:p>
            <a:r>
              <a:rPr lang="en-IN" sz="3600" dirty="0"/>
              <a:t>Project Objectives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396E8-6A21-1781-6519-D78F943D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7D6C2C-FA57-173F-17C6-C93DDFF5B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842" y="1053383"/>
            <a:ext cx="7696200" cy="5576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dirty="0"/>
              <a:t>Core AI Capabilities:</a:t>
            </a:r>
          </a:p>
          <a:p>
            <a:r>
              <a:rPr lang="en-IN" sz="1800" b="0" dirty="0"/>
              <a:t>Person Detection: Accurately identify human subjects in camera feeds.</a:t>
            </a:r>
          </a:p>
          <a:p>
            <a:r>
              <a:rPr lang="en-IN" sz="1800" b="0" dirty="0"/>
              <a:t>Face Recognition: Identify known individuals with high confidence.</a:t>
            </a:r>
          </a:p>
          <a:p>
            <a:r>
              <a:rPr lang="en-IN" sz="1800" b="0" dirty="0"/>
              <a:t>Body Language &amp; </a:t>
            </a:r>
            <a:r>
              <a:rPr lang="en-IN" sz="1800" b="0" dirty="0" err="1"/>
              <a:t>Behavior</a:t>
            </a:r>
            <a:r>
              <a:rPr lang="en-IN" sz="1800" b="0" dirty="0"/>
              <a:t> Analysis: Classify </a:t>
            </a:r>
            <a:r>
              <a:rPr lang="en-IN" sz="1800" b="0" dirty="0" err="1"/>
              <a:t>behavior</a:t>
            </a:r>
            <a:r>
              <a:rPr lang="en-IN" sz="1800" b="0" dirty="0"/>
              <a:t> as normal, suspicious (loitering, sudden movement), or aggressive.</a:t>
            </a:r>
          </a:p>
          <a:p>
            <a:r>
              <a:rPr lang="en-IN" sz="1800" b="0" dirty="0"/>
              <a:t>Interactive Visitor Onboarding: Intelligently engage and </a:t>
            </a:r>
            <a:r>
              <a:rPr lang="en-IN" sz="1800" b="0" dirty="0" err="1"/>
              <a:t>enroll</a:t>
            </a:r>
            <a:r>
              <a:rPr lang="en-IN" sz="1800" b="0" dirty="0"/>
              <a:t> new, non-threatening unknown visitors.</a:t>
            </a:r>
          </a:p>
          <a:p>
            <a:pPr marL="0" indent="0">
              <a:buNone/>
            </a:pPr>
            <a:r>
              <a:rPr lang="en-IN" sz="1800" dirty="0"/>
              <a:t>System Functionality:</a:t>
            </a:r>
          </a:p>
          <a:p>
            <a:r>
              <a:rPr lang="en-US" sz="1800" b="0" dirty="0"/>
              <a:t>Multi-Camera Support: Seamlessly integrate and manage feeds from multiple IP cameras. </a:t>
            </a:r>
          </a:p>
          <a:p>
            <a:r>
              <a:rPr lang="en-US" sz="1800" b="0" dirty="0"/>
              <a:t>Real-time Alerting: Notify owners of critical events via preferred channels. </a:t>
            </a:r>
          </a:p>
          <a:p>
            <a:r>
              <a:rPr lang="en-US" sz="1800" b="0" dirty="0"/>
              <a:t>Robust Event Logging: Maintain a detailed, searchable database of all detected events. </a:t>
            </a:r>
          </a:p>
          <a:p>
            <a:r>
              <a:rPr lang="en-US" sz="1800" b="0" dirty="0"/>
              <a:t>Adaptability: Operate effectively across various lighting conditions and distances.</a:t>
            </a:r>
            <a:endParaRPr lang="en-IN" sz="1800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99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62B22-D942-2661-954C-F8419555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1490-8A67-7554-F8A0-34D1C5F7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84" y="304800"/>
            <a:ext cx="7548716" cy="838200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Proposed Methodology - System Architecture Overview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EBE81-B522-214B-9E3D-8259FF46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B45217-A32D-F333-8D06-74B827C744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447800"/>
            <a:ext cx="7696200" cy="252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dirty="0"/>
              <a:t>"Sentry" and "Verification" Model:</a:t>
            </a:r>
          </a:p>
          <a:p>
            <a:r>
              <a:rPr lang="en-US" sz="1800" b="0" dirty="0"/>
              <a:t>Utilizes two strategically placed cameras:</a:t>
            </a:r>
          </a:p>
          <a:p>
            <a:pPr lvl="1"/>
            <a:r>
              <a:rPr lang="en-US" sz="1800" b="0" dirty="0"/>
              <a:t>Gate Camera (Sentry): Wide view, initial person detection, behavior analysis, distant face attempt.</a:t>
            </a:r>
          </a:p>
          <a:p>
            <a:pPr lvl="1"/>
            <a:r>
              <a:rPr lang="en-US" sz="1800" b="0" dirty="0"/>
              <a:t>Door Camera (Verification): Closer view, high-confidence face recognition, detailed behavior analysis, visitor onboarding.</a:t>
            </a:r>
          </a:p>
          <a:p>
            <a:pPr marL="0" indent="0">
              <a:buNone/>
            </a:pPr>
            <a:endParaRPr lang="en-IN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7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7FFB-4C25-89AC-FA7C-7754283C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EFBD-C949-2D9E-0D9B-81453990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84" y="304800"/>
            <a:ext cx="7548716" cy="838200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Proposed Methodology - System Architecture Overview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83E7B-37D7-36A3-3DDC-FE558F3F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5ECB752-0E16-18FB-2B89-FEF3BC016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1371600"/>
            <a:ext cx="7696200" cy="3527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dirty="0"/>
              <a:t>Core Processing Pipeline:</a:t>
            </a:r>
          </a:p>
          <a:p>
            <a:r>
              <a:rPr lang="en-IN" sz="1800" b="0" dirty="0"/>
              <a:t>Ingest video streams.</a:t>
            </a:r>
          </a:p>
          <a:p>
            <a:r>
              <a:rPr lang="en-IN" sz="1800" b="0" dirty="0"/>
              <a:t>YOLO: Initial "person" detection.</a:t>
            </a:r>
          </a:p>
          <a:p>
            <a:r>
              <a:rPr lang="en-IN" sz="1800" b="0" dirty="0" err="1"/>
              <a:t>dlib</a:t>
            </a:r>
            <a:r>
              <a:rPr lang="en-IN" sz="1800" b="0" dirty="0"/>
              <a:t>/</a:t>
            </a:r>
            <a:r>
              <a:rPr lang="en-IN" sz="1800" b="0" dirty="0" err="1"/>
              <a:t>face_recognition</a:t>
            </a:r>
            <a:r>
              <a:rPr lang="en-IN" sz="1800" b="0" dirty="0"/>
              <a:t>: Identity analysis within person ROIs.</a:t>
            </a:r>
          </a:p>
          <a:p>
            <a:r>
              <a:rPr lang="en-IN" sz="1800" b="0" dirty="0" err="1"/>
              <a:t>MediaPipe</a:t>
            </a:r>
            <a:r>
              <a:rPr lang="en-IN" sz="1800" b="0" dirty="0"/>
              <a:t> Pose: Body language &amp; </a:t>
            </a:r>
            <a:r>
              <a:rPr lang="en-IN" sz="1800" b="0" dirty="0" err="1"/>
              <a:t>behavior</a:t>
            </a:r>
            <a:r>
              <a:rPr lang="en-IN" sz="1800" b="0" dirty="0"/>
              <a:t> analysis within person ROIs.</a:t>
            </a:r>
          </a:p>
          <a:p>
            <a:r>
              <a:rPr lang="en-IN" sz="1800" b="0" dirty="0"/>
              <a:t>Intelligent Decision-Making Module: Combines identity and </a:t>
            </a:r>
            <a:r>
              <a:rPr lang="en-IN" sz="1800" b="0" dirty="0" err="1"/>
              <a:t>behavior</a:t>
            </a:r>
            <a:r>
              <a:rPr lang="en-IN" sz="1800" b="0" dirty="0"/>
              <a:t> for action.</a:t>
            </a:r>
          </a:p>
          <a:p>
            <a:r>
              <a:rPr lang="en-IN" sz="1800" b="0" dirty="0"/>
              <a:t>Alerting / Onboarding / Logging: Execute determined actions.</a:t>
            </a:r>
          </a:p>
          <a:p>
            <a:pPr marL="0" indent="0">
              <a:buNone/>
            </a:pPr>
            <a:endParaRPr lang="en-IN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03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AF511-F97F-0CE6-2445-C0869ED0F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F779-F0B4-5F17-2F28-E0A6523D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7548716" cy="838200"/>
          </a:xfrm>
        </p:spPr>
        <p:txBody>
          <a:bodyPr>
            <a:normAutofit/>
          </a:bodyPr>
          <a:lstStyle/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96AA2-A1A7-7D10-C91B-67A735B1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27C5EDC-B89F-3625-B245-70659009ED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272534"/>
            <a:ext cx="7696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Simplified Data Flow Diagram: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29A5F-9C80-391F-F677-2B20AB1E7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119312"/>
            <a:ext cx="5867400" cy="54661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effectLst>
            <a:glow rad="127000">
              <a:schemeClr val="accent1">
                <a:alpha val="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8341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FCB7A-78D0-D563-0CC4-182515F8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011E-7D6C-E7BD-CF54-B1F9E6707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994" y="136524"/>
            <a:ext cx="7548716" cy="838200"/>
          </a:xfrm>
        </p:spPr>
        <p:txBody>
          <a:bodyPr>
            <a:normAutofit/>
          </a:bodyPr>
          <a:lstStyle/>
          <a:p>
            <a:r>
              <a:rPr lang="en-IN" sz="3200" dirty="0"/>
              <a:t>Hardware &amp; Software Overview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0219B-2258-2983-E36E-9F6A0B9C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8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D7F9F0-922C-2B55-6A0D-C071B84E67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800" y="1252590"/>
            <a:ext cx="76962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dirty="0"/>
              <a:t>Key Hardware Components:</a:t>
            </a:r>
          </a:p>
          <a:p>
            <a:r>
              <a:rPr lang="en-IN" sz="1800" b="0" dirty="0"/>
              <a:t>Cameras (2x TP-Link Tapo C320WS Outdoor Wi-Fi Security Camera):</a:t>
            </a:r>
          </a:p>
          <a:p>
            <a:pPr lvl="1"/>
            <a:r>
              <a:rPr lang="en-IN" sz="1800" b="0" dirty="0"/>
              <a:t>2K QHD Resolution: High detail for face recognition &amp; </a:t>
            </a:r>
            <a:r>
              <a:rPr lang="en-IN" sz="1800" b="0" dirty="0" err="1"/>
              <a:t>keypoint</a:t>
            </a:r>
            <a:r>
              <a:rPr lang="en-IN" sz="1800" b="0" dirty="0"/>
              <a:t> detection.</a:t>
            </a:r>
          </a:p>
          <a:p>
            <a:pPr lvl="1"/>
            <a:r>
              <a:rPr lang="en-IN" sz="1800" b="0" dirty="0" err="1"/>
              <a:t>ColorPro</a:t>
            </a:r>
            <a:r>
              <a:rPr lang="en-IN" sz="1800" b="0" dirty="0"/>
              <a:t> Night Vision: Essential for low-light AI performance.</a:t>
            </a:r>
          </a:p>
          <a:p>
            <a:pPr lvl="1"/>
            <a:r>
              <a:rPr lang="en-IN" sz="1800" b="0" dirty="0"/>
              <a:t>Outdoor Durability (IP66): Reliable in harsh environments.</a:t>
            </a:r>
          </a:p>
          <a:p>
            <a:pPr lvl="1"/>
            <a:r>
              <a:rPr lang="en-IN" sz="1800" b="0" dirty="0"/>
              <a:t>RTSP Stream Support: Direct integration with Python/OpenCV.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Processing Unit (Laptop/Mini-PC):</a:t>
            </a:r>
          </a:p>
          <a:p>
            <a:r>
              <a:rPr lang="en-IN" sz="1800" b="0" dirty="0"/>
              <a:t>Min. Intel Core i5 (8th Gen)/</a:t>
            </a:r>
            <a:r>
              <a:rPr lang="en-IN" sz="1800" b="0" dirty="0" err="1"/>
              <a:t>Ryzen</a:t>
            </a:r>
            <a:r>
              <a:rPr lang="en-IN" sz="1800" b="0" dirty="0"/>
              <a:t> 5 (2nd Gen), 8GB RAM, 256GB SSD.</a:t>
            </a:r>
          </a:p>
          <a:p>
            <a:r>
              <a:rPr lang="en-IN" sz="1800" b="0" dirty="0"/>
              <a:t>Modern CPUs can adequately run chosen models for 2 cameras, though GPU acceleration is beneficial.</a:t>
            </a:r>
          </a:p>
          <a:p>
            <a:pPr marL="457200" lvl="1" indent="0">
              <a:buNone/>
            </a:pPr>
            <a:endParaRPr lang="en-IN" sz="1800" b="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158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17B5-E052-1C51-8F1F-292D4D55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EA81-7A53-5812-D085-E9C7EB3F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994" y="136524"/>
            <a:ext cx="7548716" cy="838200"/>
          </a:xfrm>
        </p:spPr>
        <p:txBody>
          <a:bodyPr>
            <a:normAutofit/>
          </a:bodyPr>
          <a:lstStyle/>
          <a:p>
            <a:r>
              <a:rPr lang="en-IN" sz="3200" dirty="0"/>
              <a:t>Hardware &amp; Software Overview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6FD24-FE6D-5E5C-0185-B0A45D0B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9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577DD5-3A67-4D6C-1EF4-594DB08E30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800" y="1252590"/>
            <a:ext cx="76962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dirty="0"/>
              <a:t>Key Hardware Components:</a:t>
            </a:r>
          </a:p>
          <a:p>
            <a:r>
              <a:rPr lang="en-IN" sz="1800" b="0" dirty="0"/>
              <a:t>Cameras (2x TP-Link Tapo C320WS Outdoor Wi-Fi Security Camera):</a:t>
            </a:r>
          </a:p>
          <a:p>
            <a:pPr lvl="1"/>
            <a:r>
              <a:rPr lang="en-IN" sz="1800" b="0" dirty="0"/>
              <a:t>2K QHD Resolution: High detail for face recognition &amp; </a:t>
            </a:r>
            <a:r>
              <a:rPr lang="en-IN" sz="1800" b="0" dirty="0" err="1"/>
              <a:t>keypoint</a:t>
            </a:r>
            <a:r>
              <a:rPr lang="en-IN" sz="1800" b="0" dirty="0"/>
              <a:t> detection.</a:t>
            </a:r>
          </a:p>
          <a:p>
            <a:pPr lvl="1"/>
            <a:r>
              <a:rPr lang="en-IN" sz="1800" b="0" dirty="0" err="1"/>
              <a:t>ColorPro</a:t>
            </a:r>
            <a:r>
              <a:rPr lang="en-IN" sz="1800" b="0" dirty="0"/>
              <a:t> Night Vision: Essential for low-light AI performance.</a:t>
            </a:r>
          </a:p>
          <a:p>
            <a:pPr lvl="1"/>
            <a:r>
              <a:rPr lang="en-IN" sz="1800" b="0" dirty="0"/>
              <a:t>Outdoor Durability (IP66): Reliable in harsh environments.</a:t>
            </a:r>
          </a:p>
          <a:p>
            <a:pPr lvl="1"/>
            <a:r>
              <a:rPr lang="en-IN" sz="1800" b="0" dirty="0"/>
              <a:t>RTSP Stream Support: Direct integration with Python/OpenCV.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Processing Unit (Laptop/Mini-PC):</a:t>
            </a:r>
          </a:p>
          <a:p>
            <a:r>
              <a:rPr lang="en-IN" sz="1800" b="0" dirty="0"/>
              <a:t>Min. Intel Core i5 (8th Gen)/</a:t>
            </a:r>
            <a:r>
              <a:rPr lang="en-IN" sz="1800" b="0" dirty="0" err="1"/>
              <a:t>Ryzen</a:t>
            </a:r>
            <a:r>
              <a:rPr lang="en-IN" sz="1800" b="0" dirty="0"/>
              <a:t> 5 (2nd Gen), 8GB RAM, 256GB SSD.</a:t>
            </a:r>
          </a:p>
          <a:p>
            <a:r>
              <a:rPr lang="en-IN" sz="1800" b="0" dirty="0"/>
              <a:t>Modern CPUs can adequately run chosen models for 2 cameras, though GPU acceleration is beneficial.</a:t>
            </a:r>
          </a:p>
          <a:p>
            <a:pPr marL="457200" lvl="1" indent="0">
              <a:buNone/>
            </a:pPr>
            <a:endParaRPr lang="en-IN" sz="1800" b="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93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7333-1A6A-B283-C18D-3A3B630D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69C2-C77D-D5EA-CAE0-D318D4EC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84" y="304800"/>
            <a:ext cx="7548716" cy="838200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Dataset &amp; Preprocessing (Implicit &amp; Explicit)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1AAD7-CF0E-637A-E449-47A3D1C1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D16CD8-43D8-A0B2-7E50-AE117CBA4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342" y="857775"/>
            <a:ext cx="7696200" cy="6346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"Dataset" in this context is multi-faceted:</a:t>
            </a:r>
          </a:p>
          <a:p>
            <a:r>
              <a:rPr lang="en-US" sz="1600" b="0" dirty="0"/>
              <a:t>Video Stream Data: Raw, continuous frames from the two IP cameras. This is our primary input "dataset."</a:t>
            </a:r>
          </a:p>
          <a:p>
            <a:r>
              <a:rPr lang="en-US" sz="1600" b="0" dirty="0"/>
              <a:t>Known Face Encodings (</a:t>
            </a:r>
            <a:r>
              <a:rPr lang="en-US" sz="1600" b="0" dirty="0" err="1"/>
              <a:t>encodings.pkl</a:t>
            </a:r>
            <a:r>
              <a:rPr lang="en-US" sz="1600" b="0" dirty="0"/>
              <a:t>):</a:t>
            </a:r>
          </a:p>
          <a:p>
            <a:pPr lvl="1"/>
            <a:r>
              <a:rPr lang="en-US" sz="1600" b="0" dirty="0"/>
              <a:t>Statistics: A growing collection of 128-dimensional facial embeddings for known users and enrolled visitors. Starts empty, dynamically populated.</a:t>
            </a:r>
          </a:p>
          <a:p>
            <a:pPr lvl="1"/>
            <a:r>
              <a:rPr lang="en-US" sz="1600" b="0" dirty="0"/>
              <a:t>Sample: Each entry is a vector (e.g., [0.123, -0.456, ..., 0.789]) associated with a name ("John Doe").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Data Preprocessing Stages:</a:t>
            </a:r>
          </a:p>
          <a:p>
            <a:r>
              <a:rPr lang="en-IN" sz="1600" b="0" dirty="0"/>
              <a:t>Frame Acquisition: cv2.VideoCapture() for RTSP streams, running in separate threads.</a:t>
            </a:r>
          </a:p>
          <a:p>
            <a:r>
              <a:rPr lang="en-IN" sz="1600" b="0" dirty="0" err="1"/>
              <a:t>Color</a:t>
            </a:r>
            <a:r>
              <a:rPr lang="en-IN" sz="1600" b="0" dirty="0"/>
              <a:t> Conversion: Frames converted from BGR (OpenCV default) to RGB (required by </a:t>
            </a:r>
            <a:r>
              <a:rPr lang="en-IN" sz="1600" b="0" dirty="0" err="1"/>
              <a:t>face_recognition</a:t>
            </a:r>
            <a:r>
              <a:rPr lang="en-IN" sz="1600" b="0" dirty="0"/>
              <a:t> and </a:t>
            </a:r>
            <a:r>
              <a:rPr lang="en-IN" sz="1600" b="0" dirty="0" err="1"/>
              <a:t>MediaPipe</a:t>
            </a:r>
            <a:r>
              <a:rPr lang="en-IN" sz="1600" b="0" dirty="0"/>
              <a:t>).</a:t>
            </a:r>
          </a:p>
          <a:p>
            <a:r>
              <a:rPr lang="en-IN" sz="1600" b="0" dirty="0"/>
              <a:t>Optional Resizing: Frames resized for faster YOLO processing (e.g., to 416x416).</a:t>
            </a:r>
          </a:p>
          <a:p>
            <a:r>
              <a:rPr lang="en-IN" sz="1600" b="0" dirty="0"/>
              <a:t>Region of Interest (ROI) Extraction: YOLO's person bounding boxes used to crop frames, focusing subsequent AI analysis only on relevant areas. This is a crucial preprocessing step for efficiency.</a:t>
            </a:r>
          </a:p>
          <a:p>
            <a:pPr marL="457200" lvl="1" indent="0">
              <a:buNone/>
            </a:pPr>
            <a:endParaRPr lang="en-IN" sz="1600" b="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7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DB13-42E6-B171-C156-AA4BA214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89F0-3934-D250-D838-FC3B74C0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84" y="228600"/>
            <a:ext cx="7548716" cy="838200"/>
          </a:xfrm>
        </p:spPr>
        <p:txBody>
          <a:bodyPr>
            <a:normAutofit/>
          </a:bodyPr>
          <a:lstStyle/>
          <a:p>
            <a:r>
              <a:rPr lang="en-US" sz="3200" dirty="0"/>
              <a:t>ML/DL Models &amp; Their Roles</a:t>
            </a:r>
            <a:endParaRPr lang="en-IN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4A68C-D089-457D-21ED-E6C7D9EF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841BD70-4509-AFBB-7508-5AE49C0797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342" y="1128617"/>
            <a:ext cx="7696200" cy="580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r>
              <a:rPr lang="en-US" sz="1600" dirty="0"/>
              <a:t>YOLOv3-tiny (You Only Look Once):</a:t>
            </a:r>
          </a:p>
          <a:p>
            <a:r>
              <a:rPr lang="en-US" sz="1600" b="0" dirty="0"/>
              <a:t>Type: Deep Learning (Convolutional Neural Network) for Object Detection.</a:t>
            </a:r>
          </a:p>
          <a:p>
            <a:r>
              <a:rPr lang="en-US" sz="1600" b="0" dirty="0"/>
              <a:t>Purpose: Initial, efficient "person" detection in raw video frames. Acts as a primary filter.</a:t>
            </a:r>
          </a:p>
          <a:p>
            <a:r>
              <a:rPr lang="en-US" sz="1600" b="0" dirty="0"/>
              <a:t>Pre-trained: On the COCO dataset, specifically leveraging its "person" class.</a:t>
            </a:r>
          </a:p>
          <a:p>
            <a:r>
              <a:rPr lang="en-US" sz="1600" b="0" dirty="0"/>
              <a:t>Results (So Far): Successfully identifies bounding boxes around human subjects in diverse outdoor settings. Optimized for speed to ensure real-time performance.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dlib</a:t>
            </a:r>
            <a:r>
              <a:rPr lang="en-US" sz="1600" dirty="0"/>
              <a:t> &amp; </a:t>
            </a:r>
            <a:r>
              <a:rPr lang="en-US" sz="1600" dirty="0" err="1"/>
              <a:t>face_recognition</a:t>
            </a:r>
            <a:r>
              <a:rPr lang="en-US" sz="1600" dirty="0"/>
              <a:t>:</a:t>
            </a:r>
          </a:p>
          <a:p>
            <a:r>
              <a:rPr lang="en-US" sz="1600" b="0" dirty="0"/>
              <a:t>Type: Machine Learning (Facial Landmark Detection, Siamese Network-like embeddings for recognition).</a:t>
            </a:r>
          </a:p>
          <a:p>
            <a:r>
              <a:rPr lang="en-US" sz="1600" b="0" dirty="0"/>
              <a:t>Purpose: High-confidence face detection and encoding, comparison against known facial embeddings for identity verification.</a:t>
            </a:r>
          </a:p>
          <a:p>
            <a:r>
              <a:rPr lang="en-US" sz="1600" b="0" dirty="0"/>
              <a:t>Results (So Far): Achieves high accuracy (&gt;95% in controlled conditions) in identifying known individuals and robustly labeling unknowns, critical for the "Sentry" and "Verification" model. Performance is subject to distance and angle from camera.</a:t>
            </a:r>
          </a:p>
          <a:p>
            <a:pPr marL="457200" lvl="1" indent="0">
              <a:buNone/>
            </a:pPr>
            <a:endParaRPr lang="en-IN" sz="1600" b="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95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9425-F9B4-A5F9-21F9-62734E67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5F6A-FFD7-AB07-EB45-5635CA1B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84" y="228600"/>
            <a:ext cx="7548716" cy="838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ML/DL Models (Continued) &amp; Hybrid Behavior Classification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82C82-344D-B9A1-89B5-2E54FCE0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C52672-63D9-EE9B-B027-4E5704F875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342" y="1005506"/>
            <a:ext cx="7696200" cy="60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r>
              <a:rPr lang="en-US" sz="1600" dirty="0" err="1"/>
              <a:t>MediaPipe</a:t>
            </a:r>
            <a:r>
              <a:rPr lang="en-US" sz="1600" dirty="0"/>
              <a:t> Pose:</a:t>
            </a:r>
          </a:p>
          <a:p>
            <a:r>
              <a:rPr lang="en-US" sz="1600" b="0" dirty="0"/>
              <a:t>Type: Deep Learning (Google's pre-trained solution for robust pose estimation).</a:t>
            </a:r>
          </a:p>
          <a:p>
            <a:r>
              <a:rPr lang="en-US" sz="1600" b="0" dirty="0"/>
              <a:t>Purpose: Extracts 33 3D skeletal </a:t>
            </a:r>
            <a:r>
              <a:rPr lang="en-US" sz="1600" b="0" dirty="0" err="1"/>
              <a:t>keypoints</a:t>
            </a:r>
            <a:r>
              <a:rPr lang="en-US" sz="1600" b="0" dirty="0"/>
              <a:t> per detected person, forming the basis for body language analysis.</a:t>
            </a:r>
          </a:p>
          <a:p>
            <a:r>
              <a:rPr lang="en-US" sz="1600" b="0" dirty="0"/>
              <a:t>Results (So Far): Provides accurate real-time </a:t>
            </a:r>
            <a:r>
              <a:rPr lang="en-US" sz="1600" b="0" dirty="0" err="1"/>
              <a:t>keypoint</a:t>
            </a:r>
            <a:r>
              <a:rPr lang="en-US" sz="1600" b="0" dirty="0"/>
              <a:t> detection, even in varying postures and movements, enabling the extraction of critical behavioral features.</a:t>
            </a:r>
          </a:p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r>
              <a:rPr lang="en-US" sz="1600" dirty="0"/>
              <a:t>Behavior Classification (Hybrid Approach):</a:t>
            </a:r>
          </a:p>
          <a:p>
            <a:r>
              <a:rPr lang="en-US" sz="1600" b="0" dirty="0"/>
              <a:t>Rule-Based (Current Implementation):</a:t>
            </a:r>
          </a:p>
          <a:p>
            <a:pPr lvl="1"/>
            <a:r>
              <a:rPr lang="en-US" sz="1600" b="0" dirty="0"/>
              <a:t>Purpose: Immediate detection of predefined suspicious/aggressive patterns based on extracted </a:t>
            </a:r>
            <a:r>
              <a:rPr lang="en-US" sz="1600" b="0" dirty="0" err="1"/>
              <a:t>MediaPipe</a:t>
            </a:r>
            <a:r>
              <a:rPr lang="en-US" sz="1600" b="0" dirty="0"/>
              <a:t> features.</a:t>
            </a:r>
          </a:p>
          <a:p>
            <a:pPr lvl="1"/>
            <a:r>
              <a:rPr lang="en-US" sz="1600" b="0" dirty="0"/>
              <a:t>Logic: Thresholds on Movement Velocity, Joint Angles, Pose Changes, and "Time in Zone." (e.g., IF (velocity &gt; X AND </a:t>
            </a:r>
            <a:r>
              <a:rPr lang="en-US" sz="1600" b="0" dirty="0" err="1"/>
              <a:t>time_in_zone</a:t>
            </a:r>
            <a:r>
              <a:rPr lang="en-US" sz="1600" b="0" dirty="0"/>
              <a:t> &gt; Y) THEN 'Loitering').</a:t>
            </a:r>
          </a:p>
          <a:p>
            <a:pPr lvl="1"/>
            <a:r>
              <a:rPr lang="en-US" sz="1600" b="0" dirty="0"/>
              <a:t>Results (So Far): Effectively categorizes behaviors into 'Normal', 'Suspicious' (e.g., loitering), and 'Aggressive' (e.g., frantic movement, running towards property) based on defined rules.</a:t>
            </a:r>
          </a:p>
          <a:p>
            <a:pPr marL="457200" lvl="1" indent="0">
              <a:buNone/>
            </a:pPr>
            <a:endParaRPr lang="en-IN" sz="1600" b="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98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F222-6DFA-8B7D-1AC4-44BD0ED5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7ADE-5DA0-2BF5-DFCD-C65FAADC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84" y="228600"/>
            <a:ext cx="7548716" cy="838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ML/DL Models (Continued) &amp; Hybrid Behavior Classification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6963F-BA7A-F908-05DD-C47E0932E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064AAD-EA29-2857-FDB2-D216F15601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371600"/>
            <a:ext cx="7696200" cy="1963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dirty="0"/>
              <a:t>ML Classifier (Future Enhancement):</a:t>
            </a:r>
          </a:p>
          <a:p>
            <a:r>
              <a:rPr lang="en-US" sz="1600" b="0" dirty="0"/>
              <a:t>Type: Supervised Machine Learning (e.g., SVM, Random Forest).</a:t>
            </a:r>
          </a:p>
          <a:p>
            <a:r>
              <a:rPr lang="en-US" sz="1600" b="0" dirty="0"/>
              <a:t>Purpose: Train on sequences of extracted pose features for more nuanced and adaptive behavior classification.</a:t>
            </a:r>
          </a:p>
          <a:p>
            <a:r>
              <a:rPr lang="en-US" sz="1600" b="0" dirty="0"/>
              <a:t>Current Status: Planned for future iteration; currently using a robust rule-based system.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082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99C6D-3F7F-69F6-8FD8-CA3E5D9C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0A09-5239-E96F-8E98-DEF291FB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84" y="233517"/>
            <a:ext cx="7548716" cy="838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Detailed System Workflow &amp; Results (Illustrative Scenarios)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1C6BB-10E5-68BD-EAB4-B5773568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E0AB56-2E32-51B1-94D3-988E6650F2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203197"/>
            <a:ext cx="904731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 Module (The "Brain"):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Identity (Known/Unknown) and Behavior (Normal/Suspicious/Aggressive) from both cameras.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Prioritizes "Known User" identity.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Illustrative Results (Scenario Walkthroughs):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 1: Known User Rushing Home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alert to owner. Event logged: "Your Name - Rushing Home." (Identity overrides behavior).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 2: Unknown Intruder Attempts Break-in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IMMEDIATE CRITICAL ALERT to owner (email), including snapshots/video. NO interactive mode. Event logged: "Unknown - Suspected Break-in Attempt at Window." (Unknown + Aggressive = Critical).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 3: New, Legitimate Visitor (Onboarding Success)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interacts ("State your full name," confirms via nod), captures images, dynamically updates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encodings.pkl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logs: "New Visitor Enrolled: John Doe." (Unknown + Normal at Door = Onboarding).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 4: Loitering Suspicion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IMMEDIATE ALERT to owner: "Warning: Unknown Person Loitering at Gate." Includes snapshot. Event logged: "Unknown - Loitering at Gate." (Unknown + Suspicious = Alert).</a:t>
            </a:r>
          </a:p>
        </p:txBody>
      </p:sp>
    </p:spTree>
    <p:extLst>
      <p:ext uri="{BB962C8B-B14F-4D97-AF65-F5344CB8AC3E}">
        <p14:creationId xmlns:p14="http://schemas.microsoft.com/office/powerpoint/2010/main" val="2656885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E1E8B2-F9E5-9730-C4ED-BA3B34EB5733}"/>
              </a:ext>
            </a:extLst>
          </p:cNvPr>
          <p:cNvSpPr txBox="1"/>
          <p:nvPr/>
        </p:nvSpPr>
        <p:spPr>
          <a:xfrm>
            <a:off x="2857500" y="2743200"/>
            <a:ext cx="4191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5275E-B605-D2FA-9778-D9F9CD24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987B-39D8-4CB5-BD06-CFC9446EB1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1558</Words>
  <Application>Microsoft Office PowerPoint</Application>
  <PresentationFormat>A4 Paper (210x297 mm)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Unicode MS</vt:lpstr>
      <vt:lpstr>Calibri</vt:lpstr>
      <vt:lpstr>Open sans</vt:lpstr>
      <vt:lpstr>Open sans</vt:lpstr>
      <vt:lpstr>Times New Roman</vt:lpstr>
      <vt:lpstr>Office Theme</vt:lpstr>
      <vt:lpstr>AI-Powered Smart Home Security </vt:lpstr>
      <vt:lpstr>Contents</vt:lpstr>
      <vt:lpstr>Problem Statement</vt:lpstr>
      <vt:lpstr>Project Objectives</vt:lpstr>
      <vt:lpstr>Proposed Methodology - System Architecture Overview</vt:lpstr>
      <vt:lpstr>Proposed Methodology - System Architecture Overview</vt:lpstr>
      <vt:lpstr>PowerPoint Presentation</vt:lpstr>
      <vt:lpstr>Hardware &amp; Software Overview</vt:lpstr>
      <vt:lpstr>Hardware &amp; Software Overview</vt:lpstr>
      <vt:lpstr>Dataset &amp; Preprocessing (Implicit &amp; Explicit)</vt:lpstr>
      <vt:lpstr>ML/DL Models &amp; Their Roles</vt:lpstr>
      <vt:lpstr>ML/DL Models (Continued) &amp; Hybrid Behavior Classification</vt:lpstr>
      <vt:lpstr>ML/DL Models (Continued) &amp; Hybrid Behavior Classification</vt:lpstr>
      <vt:lpstr>Detailed System Workflow &amp; Results (Illustrative Scenarios)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Puneeth ....</cp:lastModifiedBy>
  <cp:revision>84</cp:revision>
  <dcterms:created xsi:type="dcterms:W3CDTF">2020-10-21T17:39:34Z</dcterms:created>
  <dcterms:modified xsi:type="dcterms:W3CDTF">2025-10-08T15:35:09Z</dcterms:modified>
</cp:coreProperties>
</file>